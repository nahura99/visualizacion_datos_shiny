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4" r:id="rId6"/>
    <p:sldId id="267" r:id="rId7"/>
    <p:sldId id="268" r:id="rId8"/>
    <p:sldId id="269" r:id="rId9"/>
    <p:sldId id="283" r:id="rId10"/>
    <p:sldId id="272" r:id="rId11"/>
    <p:sldId id="280" r:id="rId12"/>
    <p:sldId id="273" r:id="rId13"/>
    <p:sldId id="274" r:id="rId14"/>
    <p:sldId id="270" r:id="rId15"/>
    <p:sldId id="271" r:id="rId16"/>
    <p:sldId id="275" r:id="rId17"/>
    <p:sldId id="276" r:id="rId18"/>
    <p:sldId id="277" r:id="rId19"/>
    <p:sldId id="278" r:id="rId20"/>
    <p:sldId id="281" r:id="rId21"/>
    <p:sldId id="282" r:id="rId22"/>
    <p:sldId id="279" r:id="rId23"/>
    <p:sldId id="263"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231100-3F8B-4AA8-A25F-ED091176310E}" v="2" dt="2026-10-18T22:52:42.974"/>
    <p1510:client id="{B13002E2-C899-493A-AA5D-FA4E7F53845C}" v="3" dt="2026-10-19T16:59:51.4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10-19T17:00:16.823" v="3885" actId="20577"/>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23:59:49.058" v="3657"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graphicFrameChg chg="mod modGraphic">
          <ac:chgData name="Nahuel Roel" userId="f57eb92d7f62e27b" providerId="LiveId" clId="{1698397B-2804-4513-BF38-7951CB4798F0}" dt="2026-09-26T23:59:49.058" v="3657"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delSp modSp mod">
        <pc:chgData name="Nahuel Roel" userId="f57eb92d7f62e27b" providerId="LiveId" clId="{1698397B-2804-4513-BF38-7951CB4798F0}" dt="2026-09-26T19:05:44.831" v="3536"/>
        <pc:sldMkLst>
          <pc:docMk/>
          <pc:sldMk cId="0" sldId="263"/>
        </pc:sldMkLst>
        <pc:spChg chg="mod">
          <ac:chgData name="Nahuel Roel" userId="f57eb92d7f62e27b" providerId="LiveId" clId="{1698397B-2804-4513-BF38-7951CB4798F0}" dt="2026-09-26T19:05:44.831" v="3536"/>
          <ac:spMkLst>
            <pc:docMk/>
            <pc:sldMk cId="0" sldId="263"/>
            <ac:spMk id="3"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Sp delSp modSp add mod ord">
        <pc:chgData name="Nahuel Roel" userId="f57eb92d7f62e27b" providerId="LiveId" clId="{1698397B-2804-4513-BF38-7951CB4798F0}" dt="2026-09-26T18:08:52.175" v="2857" actId="403"/>
        <pc:sldMkLst>
          <pc:docMk/>
          <pc:sldMk cId="2606275426" sldId="267"/>
        </pc:sldMkLst>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sldChg chg="addSp modSp mod">
        <pc:chgData name="Nahuel Roel" userId="f57eb92d7f62e27b" providerId="LiveId" clId="{1698397B-2804-4513-BF38-7951CB4798F0}" dt="2026-10-19T17:00:16.823" v="3885" actId="20577"/>
        <pc:sldMkLst>
          <pc:docMk/>
          <pc:sldMk cId="894793366" sldId="283"/>
        </pc:sldMkLst>
        <pc:spChg chg="add mod">
          <ac:chgData name="Nahuel Roel" userId="f57eb92d7f62e27b" providerId="LiveId" clId="{1698397B-2804-4513-BF38-7951CB4798F0}" dt="2026-10-19T17:00:15.322" v="3883" actId="20577"/>
          <ac:spMkLst>
            <pc:docMk/>
            <pc:sldMk cId="894793366" sldId="283"/>
            <ac:spMk id="4" creationId="{B2048075-558E-8BAE-6651-8A8B857B1C7D}"/>
          </ac:spMkLst>
        </pc:spChg>
        <pc:spChg chg="mod">
          <ac:chgData name="Nahuel Roel" userId="f57eb92d7f62e27b" providerId="LiveId" clId="{1698397B-2804-4513-BF38-7951CB4798F0}" dt="2026-10-19T17:00:16.823" v="3885" actId="20577"/>
          <ac:spMkLst>
            <pc:docMk/>
            <pc:sldMk cId="894793366" sldId="283"/>
            <ac:spMk id="32" creationId="{B7E58599-E4CA-0220-24EA-DE96732ADEA4}"/>
          </ac:spMkLst>
        </pc:spChg>
      </pc:sldChg>
    </pc:docChg>
  </pc:docChgLst>
  <pc:docChgLst>
    <pc:chgData name="Nahuel Roel" userId="f57eb92d7f62e27b" providerId="LiveId" clId="{FBA21D36-C460-42D2-B883-A1153B3C8AF6}"/>
    <pc:docChg chg="custSel addSld modSld">
      <pc:chgData name="Nahuel Roel" userId="f57eb92d7f62e27b" providerId="LiveId" clId="{FBA21D36-C460-42D2-B883-A1153B3C8AF6}" dt="2026-10-18T22:53:55.555" v="96" actId="1076"/>
      <pc:docMkLst>
        <pc:docMk/>
      </pc:docMkLst>
      <pc:sldChg chg="addSp delSp modSp add mod">
        <pc:chgData name="Nahuel Roel" userId="f57eb92d7f62e27b" providerId="LiveId" clId="{FBA21D36-C460-42D2-B883-A1153B3C8AF6}" dt="2026-10-18T22:53:55.555" v="96" actId="1076"/>
        <pc:sldMkLst>
          <pc:docMk/>
          <pc:sldMk cId="894793366" sldId="283"/>
        </pc:sldMkLst>
        <pc:spChg chg="mod">
          <ac:chgData name="Nahuel Roel" userId="f57eb92d7f62e27b" providerId="LiveId" clId="{FBA21D36-C460-42D2-B883-A1153B3C8AF6}" dt="2026-10-18T22:52:42.974" v="40"/>
          <ac:spMkLst>
            <pc:docMk/>
            <pc:sldMk cId="894793366" sldId="283"/>
            <ac:spMk id="2" creationId="{740D0576-CF0B-D304-5830-00968DA6E68F}"/>
          </ac:spMkLst>
        </pc:spChg>
        <pc:spChg chg="del">
          <ac:chgData name="Nahuel Roel" userId="f57eb92d7f62e27b" providerId="LiveId" clId="{FBA21D36-C460-42D2-B883-A1153B3C8AF6}" dt="2026-10-18T22:52:51.704" v="75" actId="478"/>
          <ac:spMkLst>
            <pc:docMk/>
            <pc:sldMk cId="894793366" sldId="283"/>
            <ac:spMk id="4" creationId="{E7542B36-5BC9-5C98-B4C3-90D3508B0DDA}"/>
          </ac:spMkLst>
        </pc:spChg>
        <pc:spChg chg="mod">
          <ac:chgData name="Nahuel Roel" userId="f57eb92d7f62e27b" providerId="LiveId" clId="{FBA21D36-C460-42D2-B883-A1153B3C8AF6}" dt="2026-10-18T22:51:56.017" v="2" actId="6549"/>
          <ac:spMkLst>
            <pc:docMk/>
            <pc:sldMk cId="894793366" sldId="283"/>
            <ac:spMk id="7" creationId="{BE7799E2-891C-E080-AF62-6365687F53CD}"/>
          </ac:spMkLst>
        </pc:spChg>
        <pc:spChg chg="mod">
          <ac:chgData name="Nahuel Roel" userId="f57eb92d7f62e27b" providerId="LiveId" clId="{FBA21D36-C460-42D2-B883-A1153B3C8AF6}" dt="2026-10-18T22:53:09.061" v="87" actId="404"/>
          <ac:spMkLst>
            <pc:docMk/>
            <pc:sldMk cId="894793366" sldId="283"/>
            <ac:spMk id="8" creationId="{A09DC744-6EDD-3786-3D96-786DF242C174}"/>
          </ac:spMkLst>
        </pc:spChg>
        <pc:spChg chg="del mod">
          <ac:chgData name="Nahuel Roel" userId="f57eb92d7f62e27b" providerId="LiveId" clId="{FBA21D36-C460-42D2-B883-A1153B3C8AF6}" dt="2026-10-18T22:53:11.280" v="88" actId="478"/>
          <ac:spMkLst>
            <pc:docMk/>
            <pc:sldMk cId="894793366" sldId="283"/>
            <ac:spMk id="10" creationId="{96CC2AA5-50C4-51F3-4086-C45E3E8B7D5E}"/>
          </ac:spMkLst>
        </pc:spChg>
        <pc:spChg chg="mod">
          <ac:chgData name="Nahuel Roel" userId="f57eb92d7f62e27b" providerId="LiveId" clId="{FBA21D36-C460-42D2-B883-A1153B3C8AF6}" dt="2026-10-18T22:53:55.555" v="96" actId="1076"/>
          <ac:spMkLst>
            <pc:docMk/>
            <pc:sldMk cId="894793366" sldId="283"/>
            <ac:spMk id="32" creationId="{B7E58599-E4CA-0220-24EA-DE96732ADEA4}"/>
          </ac:spMkLst>
        </pc:spChg>
        <pc:picChg chg="add mod">
          <ac:chgData name="Nahuel Roel" userId="f57eb92d7f62e27b" providerId="LiveId" clId="{FBA21D36-C460-42D2-B883-A1153B3C8AF6}" dt="2026-10-18T22:53:50.856" v="95" actId="1076"/>
          <ac:picMkLst>
            <pc:docMk/>
            <pc:sldMk cId="894793366" sldId="283"/>
            <ac:picMk id="9" creationId="{E38B869B-A34C-7776-39FB-D2F254A1FBF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A62BE-28DF-4FB9-0494-FD55C2494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372931-AFCE-1426-00B0-336C2337E0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9934A9-7AB2-60A3-A402-6C8E547B6A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718C3-106C-8882-4235-130E13433727}"/>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869408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bancodedatos-fcs.shinyapps.io/OMIF-UNICEF/"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nahuelroel.shinyapps.io/ObservatorioDA/"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bancodedatos-fcs.shinyapps.io/Mirador-DESCA-app/"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nahuelroel-cursoshiny.share.connect.posit.clou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nahuelroel.shinyapps.io/CursoShiny/" TargetMode="Externa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forms.gle/fBNWZZm4eD2N7DDw9"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7</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2800" b="1" noProof="0" dirty="0">
                <a:solidFill>
                  <a:srgbClr val="2E0A4E"/>
                </a:solidFill>
                <a:latin typeface="Oswald" pitchFamily="34" charset="0"/>
                <a:ea typeface="Oswald" pitchFamily="34" charset="-122"/>
                <a:cs typeface="Oswald" pitchFamily="34" charset="-120"/>
              </a:rPr>
              <a:t>Presentación del curso y primeros pasos</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1887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1430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17526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17526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17068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ya desplegadas para entender qué se puede hacer con la herramienta.</a:t>
            </a:r>
            <a:endParaRPr lang="es-UY" sz="1500" noProof="0" dirty="0"/>
          </a:p>
        </p:txBody>
      </p:sp>
      <p:sp>
        <p:nvSpPr>
          <p:cNvPr id="11" name="Shape 9"/>
          <p:cNvSpPr/>
          <p:nvPr/>
        </p:nvSpPr>
        <p:spPr>
          <a:xfrm>
            <a:off x="502920" y="23164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3164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2707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R, RStudio y los paquetes instalados, y trabajar dentro de un proyecto.</a:t>
            </a:r>
            <a:endParaRPr lang="es-UY" sz="1500" noProof="0" dirty="0"/>
          </a:p>
        </p:txBody>
      </p:sp>
      <p:sp>
        <p:nvSpPr>
          <p:cNvPr id="14" name="Shape 12"/>
          <p:cNvSpPr/>
          <p:nvPr/>
        </p:nvSpPr>
        <p:spPr>
          <a:xfrm>
            <a:off x="502920" y="28803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28803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28346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RStudio y lo básico de R, objetos, funciones y tablas.</a:t>
            </a:r>
            <a:endParaRPr lang="es-UY" sz="1500" noProof="0" dirty="0"/>
          </a:p>
        </p:txBody>
      </p:sp>
      <p:sp>
        <p:nvSpPr>
          <p:cNvPr id="17" name="Shape 12"/>
          <p:cNvSpPr/>
          <p:nvPr/>
        </p:nvSpPr>
        <p:spPr>
          <a:xfrm>
            <a:off x="502920" y="34442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8" name="Text 13"/>
          <p:cNvSpPr txBox="1"/>
          <p:nvPr/>
        </p:nvSpPr>
        <p:spPr>
          <a:xfrm>
            <a:off x="502920" y="34442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5</a:t>
            </a:r>
            <a:endParaRPr lang="es-UY" sz="1600" noProof="0" dirty="0"/>
          </a:p>
        </p:txBody>
      </p:sp>
      <p:sp>
        <p:nvSpPr>
          <p:cNvPr id="19" name="Text 14"/>
          <p:cNvSpPr txBox="1"/>
          <p:nvPr/>
        </p:nvSpPr>
        <p:spPr>
          <a:xfrm>
            <a:off x="1188720" y="33985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Correr la primera app con datos y entender cómo está construida.</a:t>
            </a:r>
            <a:endParaRPr lang="es-UY" sz="1500" noProof="0" dirty="0"/>
          </a:p>
        </p:txBody>
      </p:sp>
      <p:sp>
        <p:nvSpPr>
          <p:cNvPr id="20" name="Shape 12"/>
          <p:cNvSpPr/>
          <p:nvPr/>
        </p:nvSpPr>
        <p:spPr>
          <a:xfrm>
            <a:off x="502920" y="40081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21" name="Text 13"/>
          <p:cNvSpPr txBox="1"/>
          <p:nvPr/>
        </p:nvSpPr>
        <p:spPr>
          <a:xfrm>
            <a:off x="502920" y="40081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6</a:t>
            </a:r>
            <a:endParaRPr lang="es-UY" sz="1600" noProof="0" dirty="0"/>
          </a:p>
        </p:txBody>
      </p:sp>
      <p:sp>
        <p:nvSpPr>
          <p:cNvPr id="22" name="Text 14"/>
          <p:cNvSpPr txBox="1"/>
          <p:nvPr/>
        </p:nvSpPr>
        <p:spPr>
          <a:xfrm>
            <a:off x="1188720" y="39624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cada quien usará en el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- 7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3907259707"/>
              </p:ext>
            </p:extLst>
          </p:nvPr>
        </p:nvGraphicFramePr>
        <p:xfrm>
          <a:off x="502920" y="1188720"/>
          <a:ext cx="8138160" cy="246888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y primeros pasos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R básico y la primera app con datos.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RStudio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 server y shinyApp().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229649505"/>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y Salidas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Inputs, outputs y cómo se conectan.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73675192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reactive(), req() y botones con eventReactive().</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594637859"/>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ggplot2 y gráficos interactivos con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418722407"/>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app final y publicación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bslib, navbar, value boxes, DT, mapas con leaflet y deploy.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03602031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Extra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Tus datos y lo que faltaba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Revisar el corpus propio, mensajes claros y límites de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22861109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B0F8C3-CC5F-F2B4-F57A-B0D453B2CE5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0D0576-CF0B-D304-5830-00968DA6E68F}"/>
              </a:ext>
            </a:extLst>
          </p:cNvPr>
          <p:cNvSpPr txBox="1"/>
          <p:nvPr/>
        </p:nvSpPr>
        <p:spPr>
          <a:xfrm>
            <a:off x="502920" y="320040"/>
            <a:ext cx="7040880" cy="640080"/>
          </a:xfrm>
          <a:prstGeom prst="rect">
            <a:avLst/>
          </a:prstGeom>
          <a:noFill/>
          <a:ln/>
        </p:spPr>
        <p:txBody>
          <a:bodyPr wrap="square" lIns="0" tIns="0" rIns="0" bIns="0" rtlCol="0" anchor="ctr"/>
          <a:lstStyle/>
          <a:p>
            <a:r>
              <a:rPr lang="es-UY" sz="3000" b="1" dirty="0">
                <a:solidFill>
                  <a:srgbClr val="2E0A4E"/>
                </a:solidFill>
                <a:latin typeface="Oswald" pitchFamily="34" charset="0"/>
                <a:ea typeface="Oswald" pitchFamily="34" charset="-122"/>
                <a:cs typeface="Oswald" pitchFamily="34" charset="-120"/>
              </a:rPr>
              <a:t>Shinys para inspirarse</a:t>
            </a:r>
            <a:endParaRPr lang="es-UY" sz="3000" dirty="0"/>
          </a:p>
        </p:txBody>
      </p:sp>
      <p:sp>
        <p:nvSpPr>
          <p:cNvPr id="5" name="Shape 3">
            <a:extLst>
              <a:ext uri="{FF2B5EF4-FFF2-40B4-BE49-F238E27FC236}">
                <a16:creationId xmlns:a16="http://schemas.microsoft.com/office/drawing/2014/main" id="{9F2F5559-8540-9473-88CB-C9B54DF8D2B7}"/>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DAD86C9-020D-A459-A4F2-83278273AED4}"/>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BE7799E2-891C-E080-AF62-6365687F53CD}"/>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8" name="Text 6">
            <a:extLst>
              <a:ext uri="{FF2B5EF4-FFF2-40B4-BE49-F238E27FC236}">
                <a16:creationId xmlns:a16="http://schemas.microsoft.com/office/drawing/2014/main" id="{A09DC744-6EDD-3786-3D96-786DF242C174}"/>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2000" b="1" noProof="0" dirty="0">
                <a:solidFill>
                  <a:srgbClr val="2E0A4E"/>
                </a:solidFill>
                <a:latin typeface="Oswald" pitchFamily="34" charset="0"/>
                <a:ea typeface="Oswald" pitchFamily="34" charset="-122"/>
                <a:cs typeface="Oswald" pitchFamily="34" charset="-120"/>
              </a:rPr>
              <a:t>La shiny de nuestro curso:</a:t>
            </a:r>
            <a:endParaRPr lang="es-UY" sz="2000" noProof="0" dirty="0"/>
          </a:p>
        </p:txBody>
      </p:sp>
      <p:sp>
        <p:nvSpPr>
          <p:cNvPr id="32" name="Text 7">
            <a:extLst>
              <a:ext uri="{FF2B5EF4-FFF2-40B4-BE49-F238E27FC236}">
                <a16:creationId xmlns:a16="http://schemas.microsoft.com/office/drawing/2014/main" id="{B7E58599-E4CA-0220-24EA-DE96732ADEA4}"/>
              </a:ext>
            </a:extLst>
          </p:cNvPr>
          <p:cNvSpPr txBox="1"/>
          <p:nvPr/>
        </p:nvSpPr>
        <p:spPr>
          <a:xfrm>
            <a:off x="1234439" y="2829892"/>
            <a:ext cx="7100669" cy="274320"/>
          </a:xfrm>
          <a:prstGeom prst="rect">
            <a:avLst/>
          </a:prstGeom>
          <a:noFill/>
          <a:ln/>
        </p:spPr>
        <p:txBody>
          <a:bodyPr wrap="square" lIns="0" tIns="0" rIns="0" bIns="0" rtlCol="0" anchor="ctr"/>
          <a:lstStyle/>
          <a:p>
            <a:r>
              <a:rPr lang="es-ES" sz="1600" b="1" dirty="0">
                <a:solidFill>
                  <a:srgbClr val="5A189A"/>
                </a:solidFill>
                <a:latin typeface="Courier New" pitchFamily="34" charset="0"/>
                <a:cs typeface="Courier New" pitchFamily="34" charset="-120"/>
                <a:hlinkClick r:id="rId3"/>
              </a:rPr>
              <a:t>https://nahuelroel-cursoshiny.share.connect.posit.cloud/</a:t>
            </a:r>
            <a:endParaRPr lang="es-UY" sz="1600" b="1" noProof="0" dirty="0"/>
          </a:p>
        </p:txBody>
      </p:sp>
      <p:pic>
        <p:nvPicPr>
          <p:cNvPr id="9" name="Picture 8">
            <a:extLst>
              <a:ext uri="{FF2B5EF4-FFF2-40B4-BE49-F238E27FC236}">
                <a16:creationId xmlns:a16="http://schemas.microsoft.com/office/drawing/2014/main" id="{E38B869B-A34C-7776-39FB-D2F254A1FBFD}"/>
              </a:ext>
            </a:extLst>
          </p:cNvPr>
          <p:cNvPicPr>
            <a:picLocks noChangeAspect="1"/>
          </p:cNvPicPr>
          <p:nvPr/>
        </p:nvPicPr>
        <p:blipFill>
          <a:blip r:embed="rId4"/>
          <a:stretch>
            <a:fillRect/>
          </a:stretch>
        </p:blipFill>
        <p:spPr>
          <a:xfrm>
            <a:off x="1234439" y="1812471"/>
            <a:ext cx="2860767" cy="551407"/>
          </a:xfrm>
          <a:prstGeom prst="rect">
            <a:avLst/>
          </a:prstGeom>
        </p:spPr>
      </p:pic>
      <p:sp>
        <p:nvSpPr>
          <p:cNvPr id="4" name="Text 7">
            <a:extLst>
              <a:ext uri="{FF2B5EF4-FFF2-40B4-BE49-F238E27FC236}">
                <a16:creationId xmlns:a16="http://schemas.microsoft.com/office/drawing/2014/main" id="{B2048075-558E-8BAE-6651-8A8B857B1C7D}"/>
              </a:ext>
            </a:extLst>
          </p:cNvPr>
          <p:cNvSpPr txBox="1"/>
          <p:nvPr/>
        </p:nvSpPr>
        <p:spPr>
          <a:xfrm>
            <a:off x="1234438" y="3193132"/>
            <a:ext cx="7100669" cy="274320"/>
          </a:xfrm>
          <a:prstGeom prst="rect">
            <a:avLst/>
          </a:prstGeom>
          <a:noFill/>
          <a:ln/>
        </p:spPr>
        <p:txBody>
          <a:bodyPr wrap="square" lIns="0" tIns="0" rIns="0" bIns="0" rtlCol="0" anchor="ctr"/>
          <a:lstStyle/>
          <a:p>
            <a:r>
              <a:rPr lang="es-ES" sz="1600" b="1" dirty="0">
                <a:solidFill>
                  <a:srgbClr val="5A189A"/>
                </a:solidFill>
                <a:latin typeface="Courier New" pitchFamily="34" charset="0"/>
                <a:cs typeface="Courier New" pitchFamily="34" charset="-120"/>
                <a:hlinkClick r:id="rId5"/>
              </a:rPr>
              <a:t>https://nahuelroel.shinyapps.io/CursoShiny/</a:t>
            </a:r>
            <a:endParaRPr lang="es-UY" sz="1600" b="1" noProof="0" dirty="0"/>
          </a:p>
        </p:txBody>
      </p:sp>
    </p:spTree>
    <p:extLst>
      <p:ext uri="{BB962C8B-B14F-4D97-AF65-F5344CB8AC3E}">
        <p14:creationId xmlns:p14="http://schemas.microsoft.com/office/powerpoint/2010/main" val="8947933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Dejar todo instalado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Primero R, después RStudio. Los paquetes se instalan una sola vez con </a:t>
            </a:r>
            <a:r>
              <a:rPr lang="es-ES" sz="1400" b="1" i="1" dirty="0">
                <a:solidFill>
                  <a:schemeClr val="bg1"/>
                </a:solidFill>
                <a:latin typeface="Calibri" pitchFamily="34" charset="0"/>
                <a:ea typeface="Calibri" pitchFamily="34" charset="-122"/>
                <a:cs typeface="Calibri" pitchFamily="34" charset="-120"/>
              </a:rPr>
              <a:t>install.packages()</a:t>
            </a:r>
            <a:r>
              <a:rPr lang="es-ES" sz="1400" b="1" dirty="0">
                <a:solidFill>
                  <a:schemeClr val="bg1"/>
                </a:solidFill>
                <a:latin typeface="Calibri" pitchFamily="34" charset="0"/>
                <a:ea typeface="Calibri" pitchFamily="34" charset="-122"/>
                <a:cs typeface="Calibri" pitchFamily="34" charset="-120"/>
              </a:rPr>
              <a:t>.</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Abrir el curso siempre desde el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Así R sabe dónde están los datos.</a:t>
            </a:r>
          </a:p>
        </p:txBody>
      </p:sp>
      <p:pic>
        <p:nvPicPr>
          <p:cNvPr id="22" name="Picture 21" descr="p1.png"/>
          <p:cNvPicPr>
            <a:picLocks noChangeAspect="1"/>
          </p:cNvPicPr>
          <p:nvPr/>
        </p:nvPicPr>
        <p:blipFill>
          <a:blip r:embed="rId2"/>
          <a:stretch>
            <a:fillRect/>
          </a:stretch>
        </p:blipFill>
        <p:spPr>
          <a:xfrm>
            <a:off x="4434840" y="1668901"/>
            <a:ext cx="4480560" cy="2102876"/>
          </a:xfrm>
          <a:prstGeom prst="rect">
            <a:avLst/>
          </a:prstGeom>
          <a:ln w="76200">
            <a:solidFill>
              <a:schemeClr val="accent1">
                <a:lumMod val="75000"/>
              </a:schemeClr>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Trabajar en un proyecto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Un proyecto es una carpeta con un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Mientras está abierto, R trabaja desde esa carpeta y rutas como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funcionan solas.</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Su nombre aparece arriba a la derecha de RStudio. Si no está, </a:t>
            </a:r>
            <a:r>
              <a:rPr lang="es-ES" sz="1400" b="1" i="1" dirty="0">
                <a:solidFill>
                  <a:schemeClr val="bg1"/>
                </a:solidFill>
                <a:latin typeface="Calibri" pitchFamily="34" charset="0"/>
                <a:ea typeface="Calibri" pitchFamily="34" charset="-122"/>
                <a:cs typeface="Calibri" pitchFamily="34" charset="-120"/>
              </a:rPr>
              <a:t>File, Open Project</a:t>
            </a:r>
            <a:r>
              <a:rPr lang="es-ES" sz="1400" b="1" dirty="0">
                <a:solidFill>
                  <a:schemeClr val="bg1"/>
                </a:solidFill>
                <a:latin typeface="Calibri" pitchFamily="34" charset="0"/>
                <a:ea typeface="Calibri" pitchFamily="34" charset="-122"/>
                <a:cs typeface="Calibri" pitchFamily="34" charset="-120"/>
              </a:rPr>
              <a:t> y elegir </a:t>
            </a:r>
            <a:r>
              <a:rPr lang="es-ES" sz="1400" b="1" i="1" dirty="0">
                <a:solidFill>
                  <a:schemeClr val="bg1"/>
                </a:solidFill>
                <a:latin typeface="Calibri" pitchFamily="34" charset="0"/>
                <a:ea typeface="Calibri" pitchFamily="34" charset="-122"/>
                <a:cs typeface="Calibri" pitchFamily="34" charset="-120"/>
              </a:rPr>
              <a:t>visualizacion_datos_shiny.Rproj</a:t>
            </a:r>
            <a:r>
              <a:rPr lang="es-ES" sz="1400" b="1" dirty="0">
                <a:solidFill>
                  <a:schemeClr val="bg1"/>
                </a:solidFill>
                <a:latin typeface="Calibri" pitchFamily="34" charset="0"/>
                <a:ea typeface="Calibri" pitchFamily="34" charset="-122"/>
                <a:cs typeface="Calibri" pitchFamily="34" charset="-120"/>
              </a:rPr>
              <a:t>.</a:t>
            </a:r>
          </a:p>
        </p:txBody>
      </p:sp>
      <p:pic>
        <p:nvPicPr>
          <p:cNvPr id="18" name="Picture 17" descr="cap1.png"/>
          <p:cNvPicPr>
            <a:picLocks noChangeAspect="1"/>
          </p:cNvPicPr>
          <p:nvPr/>
        </p:nvPicPr>
        <p:blipFill>
          <a:blip r:embed="rId2"/>
          <a:stretch>
            <a:fillRect/>
          </a:stretch>
        </p:blipFill>
        <p:spPr>
          <a:xfrm>
            <a:off x="4870731" y="1188720"/>
            <a:ext cx="3608778" cy="310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(3)</a:t>
            </a:r>
            <a:endParaRPr lang="en-US" sz="3000" dirty="0"/>
          </a:p>
        </p:txBody>
      </p:sp>
      <p:sp>
        <p:nvSpPr>
          <p:cNvPr id="11" name="Shape 9"/>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Los cuatro paneles de RStudio</a:t>
            </a:r>
            <a:endParaRPr lang="en-US" sz="1300" dirty="0"/>
          </a:p>
        </p:txBody>
      </p:sp>
      <p:sp>
        <p:nvSpPr>
          <p:cNvPr id="15" name="Shape 9">
            <a:extLst>
              <a:ext uri="{FF2B5EF4-FFF2-40B4-BE49-F238E27FC236}">
                <a16:creationId xmlns:a16="http://schemas.microsoft.com/office/drawing/2014/main" id="{1ED05ED1-CE50-06A2-178F-B4365671B18F}"/>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1291722D-C809-2238-9939-339690D52438}"/>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err="1">
                <a:solidFill>
                  <a:schemeClr val="bg1"/>
                </a:solidFill>
                <a:latin typeface="Calibri" pitchFamily="34" charset="0"/>
                <a:ea typeface="Calibri" pitchFamily="34" charset="-122"/>
                <a:cs typeface="Calibri" pitchFamily="34" charset="-120"/>
              </a:rPr>
              <a:t>En el script se escribe y se guarda. </a:t>
            </a:r>
            <a:r>
              <a:rPr lang="es-ES" sz="1400" b="1" i="1" dirty="0" err="1">
                <a:solidFill>
                  <a:schemeClr val="bg1"/>
                </a:solidFill>
                <a:latin typeface="Calibri" pitchFamily="34" charset="0"/>
                <a:ea typeface="Calibri" pitchFamily="34" charset="-122"/>
                <a:cs typeface="Calibri" pitchFamily="34" charset="-120"/>
              </a:rPr>
              <a:t>Ctrl + Enter</a:t>
            </a:r>
            <a:r>
              <a:rPr lang="es-ES" sz="1400" b="1" dirty="0" err="1">
                <a:solidFill>
                  <a:schemeClr val="bg1"/>
                </a:solidFill>
                <a:latin typeface="Calibri" pitchFamily="34" charset="0"/>
                <a:ea typeface="Calibri" pitchFamily="34" charset="-122"/>
                <a:cs typeface="Calibri" pitchFamily="34" charset="-120"/>
              </a:rPr>
              <a:t> manda la línea a la consola, donde aparece el resultado.</a:t>
            </a:r>
          </a:p>
          <a:p>
            <a:endParaRPr lang="es-ES" sz="1400" b="1" dirty="0" err="1">
              <a:solidFill>
                <a:schemeClr val="bg1"/>
              </a:solidFill>
              <a:latin typeface="Calibri" pitchFamily="34" charset="0"/>
              <a:ea typeface="Calibri" pitchFamily="34" charset="-122"/>
              <a:cs typeface="Calibri" pitchFamily="34" charset="-120"/>
            </a:endParaRPr>
          </a:p>
          <a:p>
            <a:r>
              <a:rPr lang="es-ES" sz="1400" b="1" dirty="0" err="1">
                <a:solidFill>
                  <a:schemeClr val="bg1"/>
                </a:solidFill>
                <a:latin typeface="Calibri" pitchFamily="34" charset="0"/>
                <a:ea typeface="Calibri" pitchFamily="34" charset="-122"/>
                <a:cs typeface="Calibri" pitchFamily="34" charset="-120"/>
              </a:rPr>
              <a:t>Los errores también salen en la consola. Leerlos con calma es la mitad del trabajo.</a:t>
            </a:r>
          </a:p>
        </p:txBody>
      </p:sp>
      <p:pic>
        <p:nvPicPr>
          <p:cNvPr id="24" name="Picture 23" descr="p2.png"/>
          <p:cNvPicPr>
            <a:picLocks noChangeAspect="1"/>
          </p:cNvPicPr>
          <p:nvPr/>
        </p:nvPicPr>
        <p:blipFill>
          <a:blip r:embed="rId2"/>
          <a:stretch>
            <a:fillRect/>
          </a:stretch>
        </p:blipFill>
        <p:spPr>
          <a:xfrm>
            <a:off x="4434840" y="1320165"/>
            <a:ext cx="4480560" cy="2800350"/>
          </a:xfrm>
          <a:prstGeom prst="rect">
            <a:avLst/>
          </a:prstGeom>
          <a:ln w="76200">
            <a:solidFill>
              <a:schemeClr val="accent1">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8BE186-2227-0AEE-46BF-1738518AF7E2}"/>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(4)</a:t>
            </a:r>
            <a:endParaRPr lang="en-US" sz="3000" dirty="0"/>
          </a:p>
        </p:txBody>
      </p:sp>
      <p:sp>
        <p:nvSpPr>
          <p:cNvPr id="11" name="Shape 9">
            <a:extLst>
              <a:ext uri="{FF2B5EF4-FFF2-40B4-BE49-F238E27FC236}">
                <a16:creationId xmlns:a16="http://schemas.microsoft.com/office/drawing/2014/main" id="{2D484EA3-17D5-DFDE-7FFB-391D9E546766}"/>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FF346D48-99B4-78ED-CF54-DB6A3D402E26}"/>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a:extLst>
              <a:ext uri="{FF2B5EF4-FFF2-40B4-BE49-F238E27FC236}">
                <a16:creationId xmlns:a16="http://schemas.microsoft.com/office/drawing/2014/main" id="{961D826F-99A4-C802-E6F8-FA059D3291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 básico de R</a:t>
            </a:r>
          </a:p>
        </p:txBody>
      </p:sp>
      <p:sp>
        <p:nvSpPr>
          <p:cNvPr id="15" name="Shape 9">
            <a:extLst>
              <a:ext uri="{FF2B5EF4-FFF2-40B4-BE49-F238E27FC236}">
                <a16:creationId xmlns:a16="http://schemas.microsoft.com/office/drawing/2014/main" id="{F33AC7BE-75B4-F8D4-43E0-87B7AD3B3F34}"/>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BFEECB63-4CC8-9CA3-665B-7BF2CFCADD52}"/>
              </a:ext>
            </a:extLst>
          </p:cNvPr>
          <p:cNvSpPr txBox="1"/>
          <p:nvPr/>
        </p:nvSpPr>
        <p:spPr>
          <a:xfrm>
            <a:off x="668216" y="2899117"/>
            <a:ext cx="3369212" cy="716926"/>
          </a:xfrm>
          <a:prstGeom prst="rect">
            <a:avLst/>
          </a:prstGeom>
          <a:noFill/>
          <a:ln/>
        </p:spPr>
        <p:txBody>
          <a:bodyPr wrap="square" lIns="0" tIns="0" rIns="0" bIns="0" rtlCol="0" anchor="t"/>
          <a:lstStyle/>
          <a:p>
            <a:r>
              <a:rPr lang="es-ES" sz="1400" b="1" i="1" dirty="0">
                <a:solidFill>
                  <a:schemeClr val="bg1"/>
                </a:solidFill>
                <a:latin typeface="Calibri" pitchFamily="34" charset="0"/>
                <a:ea typeface="Calibri" pitchFamily="34" charset="-122"/>
                <a:cs typeface="Calibri" pitchFamily="34" charset="-120"/>
              </a:rPr>
              <a:t>&lt;-</a:t>
            </a:r>
            <a:r>
              <a:rPr lang="es-ES" sz="1400" b="1" dirty="0">
                <a:solidFill>
                  <a:schemeClr val="bg1"/>
                </a:solidFill>
                <a:latin typeface="Calibri" pitchFamily="34" charset="0"/>
                <a:ea typeface="Calibri" pitchFamily="34" charset="-122"/>
                <a:cs typeface="Calibri" pitchFamily="34" charset="-120"/>
              </a:rPr>
              <a:t> guarda un valor en un objeto. </a:t>
            </a:r>
            <a:r>
              <a:rPr lang="es-ES" sz="1400" b="1" i="1" dirty="0">
                <a:solidFill>
                  <a:schemeClr val="bg1"/>
                </a:solidFill>
                <a:latin typeface="Calibri" pitchFamily="34" charset="0"/>
                <a:ea typeface="Calibri" pitchFamily="34" charset="-122"/>
                <a:cs typeface="Calibri" pitchFamily="34" charset="-120"/>
              </a:rPr>
              <a:t>c()</a:t>
            </a:r>
            <a:r>
              <a:rPr lang="es-ES" sz="1400" b="1" dirty="0">
                <a:solidFill>
                  <a:schemeClr val="bg1"/>
                </a:solidFill>
                <a:latin typeface="Calibri" pitchFamily="34" charset="0"/>
                <a:ea typeface="Calibri" pitchFamily="34" charset="-122"/>
                <a:cs typeface="Calibri" pitchFamily="34" charset="-120"/>
              </a:rPr>
              <a:t> arma un vector.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lee una tabla, un data frame.</a:t>
            </a:r>
            <a:endParaRPr lang="en-US" sz="1300" dirty="0"/>
          </a:p>
          <a:p>
            <a:endParaRPr lang="en-US" sz="1300" dirty="0"/>
          </a:p>
          <a:p>
            <a:r>
              <a:rPr lang="es-ES" sz="1400" b="1" i="1" dirty="0">
                <a:solidFill>
                  <a:schemeClr val="bg1"/>
                </a:solidFill>
                <a:latin typeface="Calibri" pitchFamily="34" charset="0"/>
                <a:ea typeface="Calibri" pitchFamily="34" charset="-122"/>
                <a:cs typeface="Calibri" pitchFamily="34" charset="-120"/>
              </a:rPr>
              <a:t>elecciones$emitidos</a:t>
            </a:r>
            <a:r>
              <a:rPr lang="es-ES" sz="1400" b="1" dirty="0">
                <a:solidFill>
                  <a:schemeClr val="bg1"/>
                </a:solidFill>
                <a:latin typeface="Calibri" pitchFamily="34" charset="0"/>
                <a:ea typeface="Calibri" pitchFamily="34" charset="-122"/>
                <a:cs typeface="Calibri" pitchFamily="34" charset="-120"/>
              </a:rPr>
              <a:t> elige una columna y </a:t>
            </a:r>
            <a:r>
              <a:rPr lang="es-ES" sz="1400" b="1" i="1" dirty="0">
                <a:solidFill>
                  <a:schemeClr val="bg1"/>
                </a:solidFill>
                <a:latin typeface="Calibri" pitchFamily="34" charset="0"/>
                <a:ea typeface="Calibri" pitchFamily="34" charset="-122"/>
                <a:cs typeface="Calibri" pitchFamily="34" charset="-120"/>
              </a:rPr>
              <a:t>sum()</a:t>
            </a:r>
            <a:r>
              <a:rPr lang="es-ES" sz="1400" b="1" dirty="0">
                <a:solidFill>
                  <a:schemeClr val="bg1"/>
                </a:solidFill>
                <a:latin typeface="Calibri" pitchFamily="34" charset="0"/>
                <a:ea typeface="Calibri" pitchFamily="34" charset="-122"/>
                <a:cs typeface="Calibri" pitchFamily="34" charset="-120"/>
              </a:rPr>
              <a:t> la suma. Todo está en </a:t>
            </a:r>
            <a:r>
              <a:rPr lang="es-ES" sz="1400" b="1" i="1" dirty="0">
                <a:solidFill>
                  <a:schemeClr val="bg1"/>
                </a:solidFill>
                <a:latin typeface="Calibri" pitchFamily="34" charset="0"/>
                <a:ea typeface="Calibri" pitchFamily="34" charset="-122"/>
                <a:cs typeface="Calibri" pitchFamily="34" charset="-120"/>
              </a:rPr>
              <a:t>clase1/primeros_pasos.R</a:t>
            </a:r>
            <a:r>
              <a:rPr lang="es-ES" sz="1400" b="1" dirty="0">
                <a:solidFill>
                  <a:schemeClr val="bg1"/>
                </a:solidFill>
                <a:latin typeface="Calibri" pitchFamily="34" charset="0"/>
                <a:ea typeface="Calibri" pitchFamily="34" charset="-122"/>
                <a:cs typeface="Calibri" pitchFamily="34" charset="-120"/>
              </a:rPr>
              <a:t>.</a:t>
            </a:r>
            <a:endParaRPr lang="en-US" sz="1300" dirty="0"/>
          </a:p>
        </p:txBody>
      </p:sp>
      <p:pic>
        <p:nvPicPr>
          <p:cNvPr id="22" name="Picture 21" descr="p3.png"/>
          <p:cNvPicPr>
            <a:picLocks noChangeAspect="1"/>
          </p:cNvPicPr>
          <p:nvPr/>
        </p:nvPicPr>
        <p:blipFill>
          <a:blip r:embed="rId2"/>
          <a:stretch>
            <a:fillRect/>
          </a:stretch>
        </p:blipFill>
        <p:spPr>
          <a:xfrm>
            <a:off x="4434840" y="1471757"/>
            <a:ext cx="4480560" cy="2497165"/>
          </a:xfrm>
          <a:prstGeom prst="rect">
            <a:avLst/>
          </a:prstGeom>
          <a:ln w="76200">
            <a:solidFill>
              <a:schemeClr val="accent1">
                <a:lumMod val="75000"/>
              </a:schemeClr>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Primero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 Después vemos, pieza por pieza, cómo está construida.</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(5)</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La interfaz (ui)</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1979662"/>
            <a:ext cx="4300000" cy="2040677"/>
          </a:xfrm>
          <a:prstGeom prst="rect">
            <a:avLst/>
          </a:prstGeom>
          <a:ln w="76200">
            <a:solidFill>
              <a:schemeClr val="accent1">
                <a:lumMod val="75000"/>
              </a:schemeClr>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(6)</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El servidor (server)</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2296950"/>
            <a:ext cx="4300000" cy="1406100"/>
          </a:xfrm>
          <a:prstGeom prst="rect">
            <a:avLst/>
          </a:prstGeom>
          <a:ln w="76200">
            <a:solidFill>
              <a:schemeClr val="accent1">
                <a:lumMod val="75000"/>
              </a:schemeClr>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Componentes a </a:t>
            </a:r>
            <a:r>
              <a:rPr lang="en-US" sz="3000" b="1" dirty="0" err="1">
                <a:solidFill>
                  <a:srgbClr val="2E0A4E"/>
                </a:solidFill>
                <a:latin typeface="Oswald" pitchFamily="34" charset="0"/>
                <a:ea typeface="Oswald" pitchFamily="34" charset="-122"/>
                <a:cs typeface="Oswald" pitchFamily="34" charset="-120"/>
              </a:rPr>
              <a:t>observar</a:t>
            </a:r>
            <a:r>
              <a:rPr lang="en-US" sz="3000" b="1" dirty="0">
                <a:solidFill>
                  <a:srgbClr val="2E0A4E"/>
                </a:solidFill>
                <a:latin typeface="Oswald" pitchFamily="34" charset="0"/>
                <a:ea typeface="Oswald" pitchFamily="34" charset="-122"/>
                <a:cs typeface="Oswald" pitchFamily="34" charset="-120"/>
              </a:rPr>
              <a:t> en la </a:t>
            </a:r>
            <a:r>
              <a:rPr lang="en-US" sz="3000" b="1" dirty="0" err="1">
                <a:solidFill>
                  <a:srgbClr val="2E0A4E"/>
                </a:solidFill>
                <a:latin typeface="Oswald" pitchFamily="34" charset="0"/>
                <a:ea typeface="Oswald" pitchFamily="34" charset="-122"/>
                <a:cs typeface="Oswald" pitchFamily="34" charset="-120"/>
              </a:rPr>
              <a:t>replicación</a:t>
            </a:r>
            <a:r>
              <a:rPr lang="en-US" sz="3000" b="1" dirty="0">
                <a:solidFill>
                  <a:srgbClr val="2E0A4E"/>
                </a:solidFill>
                <a:latin typeface="Oswald" pitchFamily="34" charset="0"/>
                <a:ea typeface="Oswald" pitchFamily="34" charset="-122"/>
                <a:cs typeface="Oswald" pitchFamily="34" charset="-120"/>
              </a:rPr>
              <a:t> </a:t>
            </a:r>
            <a:endParaRPr lang="en-US" sz="3000" dirty="0"/>
          </a:p>
        </p:txBody>
      </p:sp>
      <p:sp>
        <p:nvSpPr>
          <p:cNvPr id="4" name="Shape 3"/>
          <p:cNvSpPr/>
          <p:nvPr/>
        </p:nvSpPr>
        <p:spPr>
          <a:xfrm>
            <a:off x="502920" y="1188720"/>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5" name="Text 4"/>
          <p:cNvSpPr txBox="1"/>
          <p:nvPr/>
        </p:nvSpPr>
        <p:spPr>
          <a:xfrm>
            <a:off x="640080" y="120700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objeto &lt;- valor</a:t>
            </a:r>
            <a:endParaRPr lang="en-US" sz="1050" dirty="0"/>
          </a:p>
        </p:txBody>
      </p:sp>
      <p:sp>
        <p:nvSpPr>
          <p:cNvPr id="6" name="Text 5"/>
          <p:cNvSpPr txBox="1"/>
          <p:nvPr/>
        </p:nvSpPr>
        <p:spPr>
          <a:xfrm>
            <a:off x="640080" y="146962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Guarda un valor con un nombre.</a:t>
            </a:r>
            <a:endParaRPr lang="en-US" sz="1050" dirty="0"/>
          </a:p>
        </p:txBody>
      </p:sp>
      <p:sp>
        <p:nvSpPr>
          <p:cNvPr id="7" name="Shape 6"/>
          <p:cNvSpPr/>
          <p:nvPr/>
        </p:nvSpPr>
        <p:spPr>
          <a:xfrm>
            <a:off x="4675751" y="1609344"/>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8" name="Text 7"/>
          <p:cNvSpPr txBox="1"/>
          <p:nvPr/>
        </p:nvSpPr>
        <p:spPr>
          <a:xfrm>
            <a:off x="4812911" y="162763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c() y vector[1]</a:t>
            </a:r>
            <a:endParaRPr lang="en-US" sz="1050" dirty="0"/>
          </a:p>
        </p:txBody>
      </p:sp>
      <p:sp>
        <p:nvSpPr>
          <p:cNvPr id="9" name="Text 8"/>
          <p:cNvSpPr txBox="1"/>
          <p:nvPr/>
        </p:nvSpPr>
        <p:spPr>
          <a:xfrm>
            <a:off x="4812911" y="189024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Varios valores juntos, y cómo elegir uno.</a:t>
            </a:r>
            <a:endParaRPr lang="en-US" sz="1050" dirty="0"/>
          </a:p>
        </p:txBody>
      </p:sp>
      <p:sp>
        <p:nvSpPr>
          <p:cNvPr id="10" name="Shape 9"/>
          <p:cNvSpPr/>
          <p:nvPr/>
        </p:nvSpPr>
        <p:spPr>
          <a:xfrm>
            <a:off x="502920" y="1847088"/>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1" name="Text 10"/>
          <p:cNvSpPr txBox="1"/>
          <p:nvPr/>
        </p:nvSpPr>
        <p:spPr>
          <a:xfrm>
            <a:off x="640080" y="186537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sum(), mean(), paste0()</a:t>
            </a:r>
            <a:endParaRPr lang="en-US" sz="1050" dirty="0"/>
          </a:p>
        </p:txBody>
      </p:sp>
      <p:sp>
        <p:nvSpPr>
          <p:cNvPr id="12" name="Text 11"/>
          <p:cNvSpPr txBox="1"/>
          <p:nvPr/>
        </p:nvSpPr>
        <p:spPr>
          <a:xfrm>
            <a:off x="640080" y="212799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Funciones, reciben algo y devuelven un resultado.</a:t>
            </a:r>
            <a:endParaRPr lang="en-US" sz="1050" dirty="0"/>
          </a:p>
        </p:txBody>
      </p:sp>
      <p:sp>
        <p:nvSpPr>
          <p:cNvPr id="13" name="Shape 12"/>
          <p:cNvSpPr/>
          <p:nvPr/>
        </p:nvSpPr>
        <p:spPr>
          <a:xfrm>
            <a:off x="4675751" y="2267712"/>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14" name="Text 13"/>
          <p:cNvSpPr txBox="1"/>
          <p:nvPr/>
        </p:nvSpPr>
        <p:spPr>
          <a:xfrm>
            <a:off x="4812911" y="2286000"/>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install.packages() y library()</a:t>
            </a:r>
            <a:endParaRPr lang="en-US" sz="1050" dirty="0"/>
          </a:p>
        </p:txBody>
      </p:sp>
      <p:sp>
        <p:nvSpPr>
          <p:cNvPr id="15" name="Text 14"/>
          <p:cNvSpPr txBox="1"/>
          <p:nvPr/>
        </p:nvSpPr>
        <p:spPr>
          <a:xfrm>
            <a:off x="4812911" y="2548616"/>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Instalar una vez, activar cada vez.</a:t>
            </a:r>
            <a:endParaRPr lang="en-US" sz="1050" dirty="0"/>
          </a:p>
        </p:txBody>
      </p:sp>
      <p:sp>
        <p:nvSpPr>
          <p:cNvPr id="16" name="Shape 15"/>
          <p:cNvSpPr/>
          <p:nvPr/>
        </p:nvSpPr>
        <p:spPr>
          <a:xfrm>
            <a:off x="502920" y="2505456"/>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7" name="Text 16"/>
          <p:cNvSpPr txBox="1"/>
          <p:nvPr/>
        </p:nvSpPr>
        <p:spPr>
          <a:xfrm>
            <a:off x="640080" y="2523744"/>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getwd() y read.csv()</a:t>
            </a:r>
            <a:endParaRPr lang="en-US" sz="1050" dirty="0"/>
          </a:p>
        </p:txBody>
      </p:sp>
      <p:sp>
        <p:nvSpPr>
          <p:cNvPr id="18" name="Text 17"/>
          <p:cNvSpPr txBox="1"/>
          <p:nvPr/>
        </p:nvSpPr>
        <p:spPr>
          <a:xfrm>
            <a:off x="640080" y="2786360"/>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Dónde está parado R y cómo lee un CSV.</a:t>
            </a:r>
            <a:endParaRPr lang="en-US" sz="1050" dirty="0"/>
          </a:p>
        </p:txBody>
      </p:sp>
      <p:sp>
        <p:nvSpPr>
          <p:cNvPr id="19" name="Shape 18"/>
          <p:cNvSpPr/>
          <p:nvPr/>
        </p:nvSpPr>
        <p:spPr>
          <a:xfrm>
            <a:off x="4675751" y="2926080"/>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0" name="Text 19"/>
          <p:cNvSpPr txBox="1"/>
          <p:nvPr/>
        </p:nvSpPr>
        <p:spPr>
          <a:xfrm>
            <a:off x="4812911" y="294436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datos$columna y datos[filas, columnas]</a:t>
            </a:r>
            <a:endParaRPr lang="en-US" sz="1050" dirty="0"/>
          </a:p>
        </p:txBody>
      </p:sp>
      <p:sp>
        <p:nvSpPr>
          <p:cNvPr id="21" name="Text 20"/>
          <p:cNvSpPr txBox="1"/>
          <p:nvPr/>
        </p:nvSpPr>
        <p:spPr>
          <a:xfrm>
            <a:off x="4812911" y="320698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Elegir partes de un data frame.</a:t>
            </a:r>
            <a:endParaRPr lang="en-US" sz="1050" dirty="0"/>
          </a:p>
        </p:txBody>
      </p:sp>
      <p:sp>
        <p:nvSpPr>
          <p:cNvPr id="22" name="Shape 21"/>
          <p:cNvSpPr/>
          <p:nvPr/>
        </p:nvSpPr>
        <p:spPr>
          <a:xfrm>
            <a:off x="502920" y="3163824"/>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23" name="Text 22"/>
          <p:cNvSpPr txBox="1"/>
          <p:nvPr/>
        </p:nvSpPr>
        <p:spPr>
          <a:xfrm>
            <a:off x="640080" y="318211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ui, server y shinyApp()</a:t>
            </a:r>
            <a:endParaRPr lang="en-US" sz="1050" dirty="0"/>
          </a:p>
        </p:txBody>
      </p:sp>
      <p:sp>
        <p:nvSpPr>
          <p:cNvPr id="24" name="Text 23"/>
          <p:cNvSpPr txBox="1"/>
          <p:nvPr/>
        </p:nvSpPr>
        <p:spPr>
          <a:xfrm>
            <a:off x="640080" y="344472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Las tres piezas de toda app de Shiny.</a:t>
            </a:r>
            <a:endParaRPr lang="en-US" sz="1050" dirty="0"/>
          </a:p>
        </p:txBody>
      </p:sp>
      <p:sp>
        <p:nvSpPr>
          <p:cNvPr id="25" name="Shape 18"/>
          <p:cNvSpPr/>
          <p:nvPr/>
        </p:nvSpPr>
        <p:spPr>
          <a:xfrm>
            <a:off x="4675751" y="3584448"/>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6" name="Text 19"/>
          <p:cNvSpPr txBox="1"/>
          <p:nvPr/>
        </p:nvSpPr>
        <p:spPr>
          <a:xfrm>
            <a:off x="4812911" y="360273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tableOutput() y renderTable()</a:t>
            </a:r>
            <a:endParaRPr lang="en-US" sz="1050" dirty="0"/>
          </a:p>
        </p:txBody>
      </p:sp>
      <p:sp>
        <p:nvSpPr>
          <p:cNvPr id="27" name="Text 20"/>
          <p:cNvSpPr txBox="1"/>
          <p:nvPr/>
        </p:nvSpPr>
        <p:spPr>
          <a:xfrm>
            <a:off x="4812911" y="386535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Un espacio en la ui y lo que lo rellena.</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Código clave</a:t>
            </a:r>
            <a:endParaRPr lang="en-US" sz="300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alibri" pitchFamily="34" charset="0"/>
                <a:ea typeface="Calibri" pitchFamily="34" charset="-122"/>
                <a:cs typeface="Calibri" pitchFamily="34" charset="-120"/>
              </a:rPr>
              <a:t>Visualización interactiva de datos con R y Shiny · Udelar</a:t>
            </a:r>
            <a:endParaRPr lang="en-US" sz="90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n-US"/>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library(shiny)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TITULO &lt;- "Mi primera app 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elecciones &lt;- read.csv("../datos/elecciones_departamento_2024.csv")</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ui &lt;- fluidPage(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titlePanel(TITULO),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h3("Votos emitidos por departamento"),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tableOutput("tabla_elecciones"),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textOutput("resumen")</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server &lt;- function(input, output, session)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output$tabla_elecciones &lt;- renderTable({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elecciones[, c("departamento", "emitidos")]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output$resumen &lt;- renderText({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paste0("Votos emitidos en total: ", sum(elecciones$emitidos))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shinyApp(ui = ui, server = server)</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GitHub, tu repositorio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Git guarda versiones de tu código y GitHub las guarda en la web. Es opcional, el curso se hace completo sin GitHub.</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Instalá Git, creá una cuenta y un repositorio nuevo. En RStudio, </a:t>
            </a:r>
            <a:r>
              <a:rPr lang="es-ES" sz="1400" b="1" i="1" dirty="0">
                <a:solidFill>
                  <a:schemeClr val="bg1"/>
                </a:solidFill>
                <a:latin typeface="Calibri" pitchFamily="34" charset="0"/>
                <a:ea typeface="Calibri" pitchFamily="34" charset="-122"/>
                <a:cs typeface="Calibri" pitchFamily="34" charset="-120"/>
              </a:rPr>
              <a:t>File, New Project, Version Control, Git</a:t>
            </a:r>
            <a:r>
              <a:rPr lang="es-ES" sz="1400" b="1" dirty="0">
                <a:solidFill>
                  <a:schemeClr val="bg1"/>
                </a:solidFill>
                <a:latin typeface="Calibri" pitchFamily="34" charset="0"/>
                <a:ea typeface="Calibri" pitchFamily="34" charset="-122"/>
                <a:cs typeface="Calibri" pitchFamily="34" charset="-120"/>
              </a:rPr>
              <a:t> y pegá su dirección. Queda abierto como un proyecto.</a:t>
            </a:r>
          </a:p>
        </p:txBody>
      </p:sp>
      <p:pic>
        <p:nvPicPr>
          <p:cNvPr id="18" name="Picture 17" descr="cap2.png"/>
          <p:cNvPicPr>
            <a:picLocks noChangeAspect="1"/>
          </p:cNvPicPr>
          <p:nvPr/>
        </p:nvPicPr>
        <p:blipFill>
          <a:blip r:embed="rId2"/>
          <a:stretch>
            <a:fillRect/>
          </a:stretch>
        </p:blipFill>
        <p:spPr>
          <a:xfrm>
            <a:off x="4546204" y="1188720"/>
            <a:ext cx="4257831" cy="310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Guardar y subir cambios</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Copiá a tu proyecto la carpeta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y la de la clase en la que trabajás, y hacé los cambios ahí. Así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sigue funcionando.</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En la pestaña </a:t>
            </a:r>
            <a:r>
              <a:rPr lang="es-ES" sz="1400" b="1" i="1" dirty="0">
                <a:solidFill>
                  <a:schemeClr val="bg1"/>
                </a:solidFill>
                <a:latin typeface="Calibri" pitchFamily="34" charset="0"/>
                <a:ea typeface="Calibri" pitchFamily="34" charset="-122"/>
                <a:cs typeface="Calibri" pitchFamily="34" charset="-120"/>
              </a:rPr>
              <a:t>Git</a:t>
            </a:r>
            <a:r>
              <a:rPr lang="es-ES" sz="1400" b="1" dirty="0">
                <a:solidFill>
                  <a:schemeClr val="bg1"/>
                </a:solidFill>
                <a:latin typeface="Calibri" pitchFamily="34" charset="0"/>
                <a:ea typeface="Calibri" pitchFamily="34" charset="-122"/>
                <a:cs typeface="Calibri" pitchFamily="34" charset="-120"/>
              </a:rPr>
              <a:t>, marcá los archivos, </a:t>
            </a:r>
            <a:r>
              <a:rPr lang="es-ES" sz="1400" b="1" i="1" dirty="0">
                <a:solidFill>
                  <a:schemeClr val="bg1"/>
                </a:solidFill>
                <a:latin typeface="Calibri" pitchFamily="34" charset="0"/>
                <a:ea typeface="Calibri" pitchFamily="34" charset="-122"/>
                <a:cs typeface="Calibri" pitchFamily="34" charset="-120"/>
              </a:rPr>
              <a:t>Commit</a:t>
            </a:r>
            <a:r>
              <a:rPr lang="es-ES" sz="1400" b="1" dirty="0">
                <a:solidFill>
                  <a:schemeClr val="bg1"/>
                </a:solidFill>
                <a:latin typeface="Calibri" pitchFamily="34" charset="0"/>
                <a:ea typeface="Calibri" pitchFamily="34" charset="-122"/>
                <a:cs typeface="Calibri" pitchFamily="34" charset="-120"/>
              </a:rPr>
              <a:t> con un mensaje corto y </a:t>
            </a:r>
            <a:r>
              <a:rPr lang="es-ES" sz="1400" b="1" i="1" dirty="0">
                <a:solidFill>
                  <a:schemeClr val="bg1"/>
                </a:solidFill>
                <a:latin typeface="Calibri" pitchFamily="34" charset="0"/>
                <a:ea typeface="Calibri" pitchFamily="34" charset="-122"/>
                <a:cs typeface="Calibri" pitchFamily="34" charset="-120"/>
              </a:rPr>
              <a:t>Push</a:t>
            </a:r>
            <a:r>
              <a:rPr lang="es-ES" sz="1400" b="1" dirty="0">
                <a:solidFill>
                  <a:schemeClr val="bg1"/>
                </a:solidFill>
                <a:latin typeface="Calibri" pitchFamily="34" charset="0"/>
                <a:ea typeface="Calibri" pitchFamily="34" charset="-122"/>
                <a:cs typeface="Calibri" pitchFamily="34" charset="-120"/>
              </a:rPr>
              <a:t>. Conviene hacerlo al terminar cada clase.</a:t>
            </a:r>
          </a:p>
        </p:txBody>
      </p:sp>
      <p:pic>
        <p:nvPicPr>
          <p:cNvPr id="18" name="Picture 17" descr="cap3.png"/>
          <p:cNvPicPr>
            <a:picLocks noChangeAspect="1"/>
          </p:cNvPicPr>
          <p:nvPr/>
        </p:nvPicPr>
        <p:blipFill>
          <a:blip r:embed="rId2"/>
          <a:stretch>
            <a:fillRect/>
          </a:stretch>
        </p:blipFill>
        <p:spPr>
          <a:xfrm>
            <a:off x="4434840" y="1956145"/>
            <a:ext cx="4480560" cy="152838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861646" y="327074"/>
            <a:ext cx="7315200" cy="1463040"/>
          </a:xfrm>
          <a:prstGeom prst="rect">
            <a:avLst/>
          </a:prstGeom>
          <a:noFill/>
          <a:ln/>
        </p:spPr>
        <p:txBody>
          <a:bodyPr wrap="square" lIns="0" tIns="0" rIns="0" bIns="0" rtlCol="0" anchor="t"/>
          <a:lstStyle/>
          <a:p>
            <a:pPr marL="0" indent="0">
              <a:buNone/>
            </a:pPr>
            <a:r>
              <a:rPr lang="en-US" sz="3000" b="1" dirty="0" err="1">
                <a:solidFill>
                  <a:srgbClr val="FFFFFF"/>
                </a:solidFill>
                <a:latin typeface="Oswald" pitchFamily="34" charset="0"/>
                <a:ea typeface="Oswald" pitchFamily="34" charset="-122"/>
                <a:cs typeface="Oswald" pitchFamily="34" charset="-120"/>
              </a:rPr>
              <a:t>Próxima clase, la primera interacción.</a:t>
            </a:r>
            <a:endParaRPr lang="en-US" sz="3000" dirty="0"/>
          </a:p>
        </p:txBody>
      </p:sp>
      <p:sp>
        <p:nvSpPr>
          <p:cNvPr id="6" name="Text 0">
            <a:extLst>
              <a:ext uri="{FF2B5EF4-FFF2-40B4-BE49-F238E27FC236}">
                <a16:creationId xmlns:a16="http://schemas.microsoft.com/office/drawing/2014/main" id="{5DEF2027-0747-FA2E-1227-2DA6BFBD4726}"/>
              </a:ext>
            </a:extLst>
          </p:cNvPr>
          <p:cNvSpPr txBox="1"/>
          <p:nvPr/>
        </p:nvSpPr>
        <p:spPr>
          <a:xfrm>
            <a:off x="777240" y="1470074"/>
            <a:ext cx="7040880" cy="640080"/>
          </a:xfrm>
          <a:prstGeom prst="rect">
            <a:avLst/>
          </a:prstGeom>
          <a:noFill/>
          <a:ln/>
        </p:spPr>
        <p:txBody>
          <a:bodyPr wrap="square" lIns="0" tIns="0" rIns="0" bIns="0" rtlCol="0" anchor="ctr"/>
          <a:lstStyle/>
          <a:p>
            <a:pPr marL="0" indent="0">
              <a:buNone/>
            </a:pPr>
            <a:r>
              <a:rPr lang="en-US" sz="3000" b="1" dirty="0">
                <a:solidFill>
                  <a:schemeClr val="bg1"/>
                </a:solidFill>
                <a:latin typeface="Oswald" pitchFamily="34" charset="0"/>
                <a:ea typeface="Oswald" pitchFamily="34" charset="-122"/>
                <a:cs typeface="Oswald" pitchFamily="34" charset="-120"/>
              </a:rPr>
              <a:t>Ejercicio propuesto</a:t>
            </a:r>
            <a:endParaRPr lang="en-US" sz="3000" dirty="0">
              <a:solidFill>
                <a:schemeClr val="bg1"/>
              </a:solidFill>
            </a:endParaRPr>
          </a:p>
        </p:txBody>
      </p:sp>
      <p:sp>
        <p:nvSpPr>
          <p:cNvPr id="8" name="Shape 3">
            <a:extLst>
              <a:ext uri="{FF2B5EF4-FFF2-40B4-BE49-F238E27FC236}">
                <a16:creationId xmlns:a16="http://schemas.microsoft.com/office/drawing/2014/main" id="{B76805F3-EB20-5347-6375-5560CC710DE1}"/>
              </a:ext>
            </a:extLst>
          </p:cNvPr>
          <p:cNvSpPr/>
          <p:nvPr/>
        </p:nvSpPr>
        <p:spPr>
          <a:xfrm>
            <a:off x="946053" y="2198334"/>
            <a:ext cx="6756009" cy="1670025"/>
          </a:xfrm>
          <a:prstGeom prst="roundRect">
            <a:avLst>
              <a:gd name="adj" fmla="val 2727"/>
            </a:avLst>
          </a:prstGeom>
          <a:solidFill>
            <a:srgbClr val="F4ECFB"/>
          </a:solidFill>
          <a:ln w="12700">
            <a:solidFill>
              <a:srgbClr val="F4ECFB"/>
            </a:solidFill>
            <a:prstDash val="solid"/>
          </a:ln>
        </p:spPr>
        <p:txBody>
          <a:bodyPr/>
          <a:lstStyle/>
          <a:p>
            <a:endParaRPr lang="en-US"/>
          </a:p>
        </p:txBody>
      </p:sp>
      <p:sp>
        <p:nvSpPr>
          <p:cNvPr id="10" name="Text 4">
            <a:extLst>
              <a:ext uri="{FF2B5EF4-FFF2-40B4-BE49-F238E27FC236}">
                <a16:creationId xmlns:a16="http://schemas.microsoft.com/office/drawing/2014/main" id="{B7E35F91-C4B0-63AC-AA54-9A7227871712}"/>
              </a:ext>
            </a:extLst>
          </p:cNvPr>
          <p:cNvSpPr txBox="1"/>
          <p:nvPr/>
        </p:nvSpPr>
        <p:spPr>
          <a:xfrm>
            <a:off x="1311813" y="2381214"/>
            <a:ext cx="6148727" cy="1366384"/>
          </a:xfrm>
          <a:prstGeom prst="rect">
            <a:avLst/>
          </a:prstGeom>
          <a:noFill/>
          <a:ln/>
        </p:spPr>
        <p:txBody>
          <a:bodyPr wrap="square" lIns="0" tIns="0" rIns="0" bIns="0" rtlCol="0" anchor="ctr"/>
          <a:lstStyle/>
          <a:p>
            <a:pPr marL="0" indent="0">
              <a:buNone/>
            </a:pPr>
            <a:r>
              <a:rPr lang="en-US" sz="1700" dirty="0">
                <a:solidFill>
                  <a:srgbClr val="2E0A4E"/>
                </a:solidFill>
                <a:latin typeface="Calibri" pitchFamily="34" charset="0"/>
                <a:ea typeface="Calibri" pitchFamily="34" charset="-122"/>
                <a:cs typeface="Calibri" pitchFamily="34" charset="-120"/>
              </a:rPr>
              <a:t>Cambiá TITULO en la zona de pruebas y agregá un p() con tu nombre. Después corré primeros_pasos.R de punta a punta. Si tomás el desafío opcional, subí tu clase1 a tu repositorio.</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Antes de la próxima clase.</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-Correr primeros_pasos.R completo</a:t>
            </a:r>
          </a:p>
          <a:p>
            <a:pPr marL="0" indent="0">
              <a:buNone/>
            </a:pPr>
            <a:r>
              <a:rPr lang="es-UY" sz="3000" dirty="0">
                <a:solidFill>
                  <a:srgbClr val="FFFFFF"/>
                </a:solidFill>
                <a:latin typeface="Oswald" pitchFamily="34" charset="0"/>
              </a:rPr>
              <a:t>-Tener R, RStudio y paquetes listos</a:t>
            </a:r>
          </a:p>
          <a:p>
            <a:pPr marL="0" indent="0">
              <a:buNone/>
            </a:pPr>
            <a:r>
              <a:rPr lang="es-UY" sz="3000" dirty="0">
                <a:solidFill>
                  <a:srgbClr val="FFFFFF"/>
                </a:solidFill>
                <a:latin typeface="Oswald" pitchFamily="34" charset="0"/>
              </a:rPr>
              <a:t>-Opcional, crear tu repo en GitHub</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TotalTime>
  <Words>1920</Words>
  <Application>Microsoft Office PowerPoint</Application>
  <PresentationFormat>On-screen Show (16:9)</PresentationFormat>
  <Paragraphs>216</Paragraphs>
  <Slides>23</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2026-10-19T17:00:20Z</dcterms:modified>
</cp:coreProperties>
</file>